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5"/>
  </p:notesMasterIdLst>
  <p:sldIdLst>
    <p:sldId id="256" r:id="rId2"/>
    <p:sldId id="257" r:id="rId3"/>
    <p:sldId id="258" r:id="rId4"/>
    <p:sldId id="313" r:id="rId5"/>
    <p:sldId id="314" r:id="rId6"/>
    <p:sldId id="315" r:id="rId7"/>
    <p:sldId id="316" r:id="rId8"/>
    <p:sldId id="317" r:id="rId9"/>
    <p:sldId id="271" r:id="rId10"/>
    <p:sldId id="318" r:id="rId11"/>
    <p:sldId id="277" r:id="rId12"/>
    <p:sldId id="270" r:id="rId13"/>
    <p:sldId id="275" r:id="rId14"/>
  </p:sldIdLst>
  <p:sldSz cx="9144000" cy="5143500" type="screen16x9"/>
  <p:notesSz cx="6858000" cy="9144000"/>
  <p:embeddedFontLst>
    <p:embeddedFont>
      <p:font typeface="Zen Kaku Gothic New" pitchFamily="2" charset="-128"/>
      <p:regular r:id="rId16"/>
      <p:bold r:id="rId17"/>
    </p:embeddedFont>
    <p:embeddedFont>
      <p:font typeface="Albert Sans" pitchFamily="2" charset="77"/>
      <p:regular r:id="rId18"/>
      <p:bold r:id="rId19"/>
      <p:italic r:id="rId20"/>
      <p:boldItalic r:id="rId21"/>
    </p:embeddedFont>
    <p:embeddedFont>
      <p:font typeface="Bakbak One" pitchFamily="2" charset="77"/>
      <p:regular r:id="rId22"/>
    </p:embeddedFont>
    <p:embeddedFont>
      <p:font typeface="Didact Gothic" pitchFamily="2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8DF5"/>
    <a:srgbClr val="8FB3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2908BD9-8A69-4AF4-A873-9AF45CCA9446}">
  <a:tblStyle styleId="{A2908BD9-8A69-4AF4-A873-9AF45CCA944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E2E779C-25B9-432C-BE46-53B6194E72A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694"/>
  </p:normalViewPr>
  <p:slideViewPr>
    <p:cSldViewPr snapToGrid="0">
      <p:cViewPr varScale="1">
        <p:scale>
          <a:sx n="161" d="100"/>
          <a:sy n="161" d="100"/>
        </p:scale>
        <p:origin x="4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D7975F-1AB5-7447-BF0B-8E80A9D5F09B}" type="doc">
      <dgm:prSet loTypeId="urn:microsoft.com/office/officeart/2005/8/layout/hList6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1F77F5C-7B3D-3B4B-BA63-54CA9BC77816}">
      <dgm:prSet phldrT="[Text]"/>
      <dgm:spPr/>
      <dgm:t>
        <a:bodyPr/>
        <a:lstStyle/>
        <a:p>
          <a:r>
            <a:rPr lang="en-US" dirty="0"/>
            <a:t>Metadata analysis reveals viewer preferences, genre dominance and director impact.</a:t>
          </a:r>
        </a:p>
      </dgm:t>
    </dgm:pt>
    <dgm:pt modelId="{A9D0B4AF-B6EA-DE46-B207-8F8426782A1D}" type="parTrans" cxnId="{4E1D5097-79F5-C943-B34D-7AD891034478}">
      <dgm:prSet/>
      <dgm:spPr/>
      <dgm:t>
        <a:bodyPr/>
        <a:lstStyle/>
        <a:p>
          <a:endParaRPr lang="en-US"/>
        </a:p>
      </dgm:t>
    </dgm:pt>
    <dgm:pt modelId="{29CAD186-B3B3-A140-A9D0-ED08B6923002}" type="sibTrans" cxnId="{4E1D5097-79F5-C943-B34D-7AD891034478}">
      <dgm:prSet/>
      <dgm:spPr/>
      <dgm:t>
        <a:bodyPr/>
        <a:lstStyle/>
        <a:p>
          <a:endParaRPr lang="en-US"/>
        </a:p>
      </dgm:t>
    </dgm:pt>
    <dgm:pt modelId="{0BFFE603-5E54-FE4A-8518-87FE734D2F51}">
      <dgm:prSet phldrT="[Text]"/>
      <dgm:spPr/>
      <dgm:t>
        <a:bodyPr/>
        <a:lstStyle/>
        <a:p>
          <a:r>
            <a:rPr lang="en-US" dirty="0"/>
            <a:t>Valuable for producers, platforms and marketing teams for better content strategy.</a:t>
          </a:r>
        </a:p>
      </dgm:t>
    </dgm:pt>
    <dgm:pt modelId="{C67D151D-4AC7-7047-BE8C-13253FFEB770}" type="parTrans" cxnId="{D43462E8-0532-B34D-89D5-A461CE74681B}">
      <dgm:prSet/>
      <dgm:spPr/>
      <dgm:t>
        <a:bodyPr/>
        <a:lstStyle/>
        <a:p>
          <a:endParaRPr lang="en-US"/>
        </a:p>
      </dgm:t>
    </dgm:pt>
    <dgm:pt modelId="{040831DB-0DF7-764C-9F33-BBDD875AFB12}" type="sibTrans" cxnId="{D43462E8-0532-B34D-89D5-A461CE74681B}">
      <dgm:prSet/>
      <dgm:spPr/>
      <dgm:t>
        <a:bodyPr/>
        <a:lstStyle/>
        <a:p>
          <a:endParaRPr lang="en-US"/>
        </a:p>
      </dgm:t>
    </dgm:pt>
    <dgm:pt modelId="{CCB8D59F-EC11-7D4D-9271-6B904CFEE053}">
      <dgm:prSet phldrT="[Text]"/>
      <dgm:spPr/>
      <dgm:t>
        <a:bodyPr/>
        <a:lstStyle/>
        <a:p>
          <a:pPr algn="ctr"/>
          <a:r>
            <a:rPr lang="en-US" dirty="0"/>
            <a:t>This stack (Excel →SQL → Python  → Power BI) delivers both technical depth and visual clarity.</a:t>
          </a:r>
        </a:p>
      </dgm:t>
    </dgm:pt>
    <dgm:pt modelId="{9BDF1E3B-C694-4D4C-9D17-359DFFF7AFB5}" type="sibTrans" cxnId="{7942FAB8-4E2D-1B47-AE8B-0A0E6B094233}">
      <dgm:prSet/>
      <dgm:spPr/>
      <dgm:t>
        <a:bodyPr/>
        <a:lstStyle/>
        <a:p>
          <a:endParaRPr lang="en-US"/>
        </a:p>
      </dgm:t>
    </dgm:pt>
    <dgm:pt modelId="{85A927BB-AA6C-514D-8F13-43D2DF44C28D}" type="parTrans" cxnId="{7942FAB8-4E2D-1B47-AE8B-0A0E6B094233}">
      <dgm:prSet/>
      <dgm:spPr/>
      <dgm:t>
        <a:bodyPr/>
        <a:lstStyle/>
        <a:p>
          <a:endParaRPr lang="en-US"/>
        </a:p>
      </dgm:t>
    </dgm:pt>
    <dgm:pt modelId="{A11A10F8-B17E-E74C-968B-0A02234883D2}" type="pres">
      <dgm:prSet presAssocID="{BCD7975F-1AB5-7447-BF0B-8E80A9D5F09B}" presName="Name0" presStyleCnt="0">
        <dgm:presLayoutVars>
          <dgm:dir/>
          <dgm:resizeHandles val="exact"/>
        </dgm:presLayoutVars>
      </dgm:prSet>
      <dgm:spPr/>
    </dgm:pt>
    <dgm:pt modelId="{C9B60BAE-23A2-BD44-88EF-D4914175AB41}" type="pres">
      <dgm:prSet presAssocID="{B1F77F5C-7B3D-3B4B-BA63-54CA9BC77816}" presName="node" presStyleLbl="node1" presStyleIdx="0" presStyleCnt="3" custLinFactNeighborX="-71236" custLinFactNeighborY="0">
        <dgm:presLayoutVars>
          <dgm:bulletEnabled val="1"/>
        </dgm:presLayoutVars>
      </dgm:prSet>
      <dgm:spPr/>
    </dgm:pt>
    <dgm:pt modelId="{2974272D-9272-3F45-8809-65E142117249}" type="pres">
      <dgm:prSet presAssocID="{29CAD186-B3B3-A140-A9D0-ED08B6923002}" presName="sibTrans" presStyleCnt="0"/>
      <dgm:spPr/>
    </dgm:pt>
    <dgm:pt modelId="{B710CA02-2808-944B-80C4-26FE9D3B57B2}" type="pres">
      <dgm:prSet presAssocID="{CCB8D59F-EC11-7D4D-9271-6B904CFEE053}" presName="node" presStyleLbl="node1" presStyleIdx="1" presStyleCnt="3">
        <dgm:presLayoutVars>
          <dgm:bulletEnabled val="1"/>
        </dgm:presLayoutVars>
      </dgm:prSet>
      <dgm:spPr/>
    </dgm:pt>
    <dgm:pt modelId="{7FF1B68E-EB8C-5A4F-9B2B-C9DBFD112FBB}" type="pres">
      <dgm:prSet presAssocID="{9BDF1E3B-C694-4D4C-9D17-359DFFF7AFB5}" presName="sibTrans" presStyleCnt="0"/>
      <dgm:spPr/>
    </dgm:pt>
    <dgm:pt modelId="{7359ADCD-0515-A24D-99D9-E51C5C90755E}" type="pres">
      <dgm:prSet presAssocID="{0BFFE603-5E54-FE4A-8518-87FE734D2F51}" presName="node" presStyleLbl="node1" presStyleIdx="2" presStyleCnt="3" custLinFactNeighborX="514" custLinFactNeighborY="0">
        <dgm:presLayoutVars>
          <dgm:bulletEnabled val="1"/>
        </dgm:presLayoutVars>
      </dgm:prSet>
      <dgm:spPr/>
    </dgm:pt>
  </dgm:ptLst>
  <dgm:cxnLst>
    <dgm:cxn modelId="{B71BDD33-D22E-4A43-8A09-9D160A21A8B8}" type="presOf" srcId="{BCD7975F-1AB5-7447-BF0B-8E80A9D5F09B}" destId="{A11A10F8-B17E-E74C-968B-0A02234883D2}" srcOrd="0" destOrd="0" presId="urn:microsoft.com/office/officeart/2005/8/layout/hList6"/>
    <dgm:cxn modelId="{339CCF48-7AF3-9E4C-BE71-BD7ECE503490}" type="presOf" srcId="{CCB8D59F-EC11-7D4D-9271-6B904CFEE053}" destId="{B710CA02-2808-944B-80C4-26FE9D3B57B2}" srcOrd="0" destOrd="0" presId="urn:microsoft.com/office/officeart/2005/8/layout/hList6"/>
    <dgm:cxn modelId="{8DC2EA52-A97B-734B-B457-DD55EBF251D8}" type="presOf" srcId="{0BFFE603-5E54-FE4A-8518-87FE734D2F51}" destId="{7359ADCD-0515-A24D-99D9-E51C5C90755E}" srcOrd="0" destOrd="0" presId="urn:microsoft.com/office/officeart/2005/8/layout/hList6"/>
    <dgm:cxn modelId="{4E1D5097-79F5-C943-B34D-7AD891034478}" srcId="{BCD7975F-1AB5-7447-BF0B-8E80A9D5F09B}" destId="{B1F77F5C-7B3D-3B4B-BA63-54CA9BC77816}" srcOrd="0" destOrd="0" parTransId="{A9D0B4AF-B6EA-DE46-B207-8F8426782A1D}" sibTransId="{29CAD186-B3B3-A140-A9D0-ED08B6923002}"/>
    <dgm:cxn modelId="{7942FAB8-4E2D-1B47-AE8B-0A0E6B094233}" srcId="{BCD7975F-1AB5-7447-BF0B-8E80A9D5F09B}" destId="{CCB8D59F-EC11-7D4D-9271-6B904CFEE053}" srcOrd="1" destOrd="0" parTransId="{85A927BB-AA6C-514D-8F13-43D2DF44C28D}" sibTransId="{9BDF1E3B-C694-4D4C-9D17-359DFFF7AFB5}"/>
    <dgm:cxn modelId="{52EC10E2-EE5E-0A45-B853-E84D05C4B513}" type="presOf" srcId="{B1F77F5C-7B3D-3B4B-BA63-54CA9BC77816}" destId="{C9B60BAE-23A2-BD44-88EF-D4914175AB41}" srcOrd="0" destOrd="0" presId="urn:microsoft.com/office/officeart/2005/8/layout/hList6"/>
    <dgm:cxn modelId="{D43462E8-0532-B34D-89D5-A461CE74681B}" srcId="{BCD7975F-1AB5-7447-BF0B-8E80A9D5F09B}" destId="{0BFFE603-5E54-FE4A-8518-87FE734D2F51}" srcOrd="2" destOrd="0" parTransId="{C67D151D-4AC7-7047-BE8C-13253FFEB770}" sibTransId="{040831DB-0DF7-764C-9F33-BBDD875AFB12}"/>
    <dgm:cxn modelId="{DC301DDA-31CA-3049-8762-B5FE166C7B5B}" type="presParOf" srcId="{A11A10F8-B17E-E74C-968B-0A02234883D2}" destId="{C9B60BAE-23A2-BD44-88EF-D4914175AB41}" srcOrd="0" destOrd="0" presId="urn:microsoft.com/office/officeart/2005/8/layout/hList6"/>
    <dgm:cxn modelId="{BBC56B7D-168B-7C44-8407-03435FE6DB85}" type="presParOf" srcId="{A11A10F8-B17E-E74C-968B-0A02234883D2}" destId="{2974272D-9272-3F45-8809-65E142117249}" srcOrd="1" destOrd="0" presId="urn:microsoft.com/office/officeart/2005/8/layout/hList6"/>
    <dgm:cxn modelId="{6707E0BC-7269-F545-A39F-E89122C0E7DC}" type="presParOf" srcId="{A11A10F8-B17E-E74C-968B-0A02234883D2}" destId="{B710CA02-2808-944B-80C4-26FE9D3B57B2}" srcOrd="2" destOrd="0" presId="urn:microsoft.com/office/officeart/2005/8/layout/hList6"/>
    <dgm:cxn modelId="{6DEAE1AF-FE96-274A-934C-12AEA80849FA}" type="presParOf" srcId="{A11A10F8-B17E-E74C-968B-0A02234883D2}" destId="{7FF1B68E-EB8C-5A4F-9B2B-C9DBFD112FBB}" srcOrd="3" destOrd="0" presId="urn:microsoft.com/office/officeart/2005/8/layout/hList6"/>
    <dgm:cxn modelId="{D3FA3785-FA5B-5E4F-8761-C53A9AD546F1}" type="presParOf" srcId="{A11A10F8-B17E-E74C-968B-0A02234883D2}" destId="{7359ADCD-0515-A24D-99D9-E51C5C90755E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B60BAE-23A2-BD44-88EF-D4914175AB41}">
      <dsp:nvSpPr>
        <dsp:cNvPr id="0" name=""/>
        <dsp:cNvSpPr/>
      </dsp:nvSpPr>
      <dsp:spPr>
        <a:xfrm rot="16200000">
          <a:off x="-566595" y="566595"/>
          <a:ext cx="2258115" cy="1124924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0" tIns="0" rIns="71934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Metadata analysis reveals viewer preferences, genre dominance and director impact.</a:t>
          </a:r>
        </a:p>
      </dsp:txBody>
      <dsp:txXfrm rot="5400000">
        <a:off x="0" y="451623"/>
        <a:ext cx="1124924" cy="1354869"/>
      </dsp:txXfrm>
    </dsp:sp>
    <dsp:sp modelId="{B710CA02-2808-944B-80C4-26FE9D3B57B2}">
      <dsp:nvSpPr>
        <dsp:cNvPr id="0" name=""/>
        <dsp:cNvSpPr/>
      </dsp:nvSpPr>
      <dsp:spPr>
        <a:xfrm rot="16200000">
          <a:off x="643131" y="566595"/>
          <a:ext cx="2258115" cy="1124924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0" tIns="0" rIns="71934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This stack (Excel →SQL → Python  → Power BI) delivers both technical depth and visual clarity.</a:t>
          </a:r>
        </a:p>
      </dsp:txBody>
      <dsp:txXfrm rot="5400000">
        <a:off x="1209726" y="451623"/>
        <a:ext cx="1124924" cy="1354869"/>
      </dsp:txXfrm>
    </dsp:sp>
    <dsp:sp modelId="{7359ADCD-0515-A24D-99D9-E51C5C90755E}">
      <dsp:nvSpPr>
        <dsp:cNvPr id="0" name=""/>
        <dsp:cNvSpPr/>
      </dsp:nvSpPr>
      <dsp:spPr>
        <a:xfrm rot="16200000">
          <a:off x="1852858" y="566595"/>
          <a:ext cx="2258115" cy="1124924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0" tIns="0" rIns="71934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Valuable for producers, platforms and marketing teams for better content strategy.</a:t>
          </a:r>
        </a:p>
      </dsp:txBody>
      <dsp:txXfrm rot="5400000">
        <a:off x="2419453" y="451623"/>
        <a:ext cx="1124924" cy="13548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3acca15d6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3acca15d6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54dda1946d_6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54dda1946d_6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54dda1946d_4_2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54dda1946d_4_2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54dda1946d_6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54dda1946d_6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54dda194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54dda194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>
            <a:off x="1053600" y="661950"/>
            <a:ext cx="7036800" cy="38196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053600" y="4711675"/>
            <a:ext cx="7036800" cy="33339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1053600" y="-2902075"/>
            <a:ext cx="7036800" cy="33339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307675" y="1273475"/>
            <a:ext cx="4528800" cy="210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000" b="0"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07675" y="3376775"/>
            <a:ext cx="4528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None/>
              <a:defRPr sz="1800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None/>
              <a:defRPr sz="1800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None/>
              <a:defRPr sz="1800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None/>
              <a:defRPr sz="1800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None/>
              <a:defRPr sz="1800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None/>
              <a:defRPr sz="1800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None/>
              <a:defRPr sz="1800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None/>
              <a:defRPr sz="18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/>
          <p:nvPr/>
        </p:nvSpPr>
        <p:spPr>
          <a:xfrm rot="5400000" flipH="1">
            <a:off x="-2843134" y="1679968"/>
            <a:ext cx="6730852" cy="381887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rot="-1096965">
            <a:off x="-1885872" y="402295"/>
            <a:ext cx="6731383" cy="381917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 rot="-5400000">
            <a:off x="5256447" y="1679968"/>
            <a:ext cx="6730852" cy="381887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 rot="-945579" flipH="1">
            <a:off x="6184260" y="4208624"/>
            <a:ext cx="6731459" cy="381921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>
            <a:off x="1053600" y="-2902075"/>
            <a:ext cx="7036800" cy="33339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 rot="-1978881">
            <a:off x="-3206391" y="348530"/>
            <a:ext cx="6731944" cy="381949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1053600" y="661950"/>
            <a:ext cx="7036800" cy="38196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053600" y="4711675"/>
            <a:ext cx="7036800" cy="33339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2436000" y="1862853"/>
            <a:ext cx="4272000" cy="178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3923700" y="998720"/>
            <a:ext cx="1296000" cy="108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/>
          <p:nvPr/>
        </p:nvSpPr>
        <p:spPr>
          <a:xfrm rot="-1978881">
            <a:off x="3485234" y="5057105"/>
            <a:ext cx="6731944" cy="381949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2436000" y="3652345"/>
            <a:ext cx="4272000" cy="37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29" name="Google Shape;29;p3"/>
          <p:cNvGrpSpPr/>
          <p:nvPr/>
        </p:nvGrpSpPr>
        <p:grpSpPr>
          <a:xfrm>
            <a:off x="-2235832" y="4814449"/>
            <a:ext cx="13452615" cy="381925"/>
            <a:chOff x="-396857" y="4814449"/>
            <a:chExt cx="13452615" cy="381925"/>
          </a:xfrm>
        </p:grpSpPr>
        <p:sp>
          <p:nvSpPr>
            <p:cNvPr id="30" name="Google Shape;30;p3"/>
            <p:cNvSpPr/>
            <p:nvPr/>
          </p:nvSpPr>
          <p:spPr>
            <a:xfrm flipH="1">
              <a:off x="-396857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6324233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oogle Shape;32;p3"/>
          <p:cNvGrpSpPr/>
          <p:nvPr/>
        </p:nvGrpSpPr>
        <p:grpSpPr>
          <a:xfrm>
            <a:off x="-2235832" y="-95676"/>
            <a:ext cx="13452615" cy="381925"/>
            <a:chOff x="-396857" y="4814449"/>
            <a:chExt cx="13452615" cy="381925"/>
          </a:xfrm>
        </p:grpSpPr>
        <p:sp>
          <p:nvSpPr>
            <p:cNvPr id="33" name="Google Shape;33;p3"/>
            <p:cNvSpPr/>
            <p:nvPr/>
          </p:nvSpPr>
          <p:spPr>
            <a:xfrm flipH="1">
              <a:off x="-396857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flipH="1">
              <a:off x="6324233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"/>
          <p:cNvSpPr/>
          <p:nvPr/>
        </p:nvSpPr>
        <p:spPr>
          <a:xfrm rot="2961088">
            <a:off x="-2925602" y="4316338"/>
            <a:ext cx="6731349" cy="381915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6"/>
          <p:cNvSpPr/>
          <p:nvPr/>
        </p:nvSpPr>
        <p:spPr>
          <a:xfrm rot="-9931224" flipH="1">
            <a:off x="-3705732" y="4453306"/>
            <a:ext cx="6730574" cy="381871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6"/>
          <p:cNvSpPr/>
          <p:nvPr/>
        </p:nvSpPr>
        <p:spPr>
          <a:xfrm rot="-8100000">
            <a:off x="5999459" y="926316"/>
            <a:ext cx="6730508" cy="381867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6"/>
          <p:cNvSpPr/>
          <p:nvPr/>
        </p:nvSpPr>
        <p:spPr>
          <a:xfrm rot="971693" flipH="1">
            <a:off x="5837102" y="403196"/>
            <a:ext cx="6731395" cy="381918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4702363" y="1354363"/>
            <a:ext cx="3594000" cy="16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5"/>
          <p:cNvSpPr txBox="1">
            <a:spLocks noGrp="1"/>
          </p:cNvSpPr>
          <p:nvPr>
            <p:ph type="subTitle" idx="1"/>
          </p:nvPr>
        </p:nvSpPr>
        <p:spPr>
          <a:xfrm>
            <a:off x="4702513" y="2986350"/>
            <a:ext cx="3594000" cy="7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5"/>
          <p:cNvSpPr>
            <a:spLocks noGrp="1"/>
          </p:cNvSpPr>
          <p:nvPr>
            <p:ph type="pic" idx="2"/>
          </p:nvPr>
        </p:nvSpPr>
        <p:spPr>
          <a:xfrm flipH="1">
            <a:off x="847488" y="690300"/>
            <a:ext cx="3466200" cy="3762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43" name="Google Shape;143;p15"/>
          <p:cNvSpPr/>
          <p:nvPr/>
        </p:nvSpPr>
        <p:spPr>
          <a:xfrm rot="2929168" flipH="1">
            <a:off x="-2652365" y="478507"/>
            <a:ext cx="6731179" cy="381905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5"/>
          <p:cNvSpPr/>
          <p:nvPr/>
        </p:nvSpPr>
        <p:spPr>
          <a:xfrm rot="-1096965">
            <a:off x="-3695622" y="478495"/>
            <a:ext cx="6731383" cy="381917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5"/>
          <p:cNvSpPr/>
          <p:nvPr/>
        </p:nvSpPr>
        <p:spPr>
          <a:xfrm rot="3333879" flipH="1">
            <a:off x="4964779" y="98793"/>
            <a:ext cx="6731812" cy="381941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6" name="Google Shape;146;p15"/>
          <p:cNvGrpSpPr/>
          <p:nvPr/>
        </p:nvGrpSpPr>
        <p:grpSpPr>
          <a:xfrm flipH="1">
            <a:off x="-2767917" y="4814449"/>
            <a:ext cx="13452615" cy="381925"/>
            <a:chOff x="-396857" y="4814449"/>
            <a:chExt cx="13452615" cy="381925"/>
          </a:xfrm>
        </p:grpSpPr>
        <p:sp>
          <p:nvSpPr>
            <p:cNvPr id="147" name="Google Shape;147;p15"/>
            <p:cNvSpPr/>
            <p:nvPr/>
          </p:nvSpPr>
          <p:spPr>
            <a:xfrm flipH="1">
              <a:off x="-396857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5"/>
            <p:cNvSpPr/>
            <p:nvPr/>
          </p:nvSpPr>
          <p:spPr>
            <a:xfrm flipH="1">
              <a:off x="6324233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>
            <a:spLocks noGrp="1"/>
          </p:cNvSpPr>
          <p:nvPr>
            <p:ph type="title"/>
          </p:nvPr>
        </p:nvSpPr>
        <p:spPr>
          <a:xfrm>
            <a:off x="720000" y="1640400"/>
            <a:ext cx="2734500" cy="113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subTitle" idx="1"/>
          </p:nvPr>
        </p:nvSpPr>
        <p:spPr>
          <a:xfrm>
            <a:off x="720000" y="2697925"/>
            <a:ext cx="2734500" cy="99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6"/>
          <p:cNvSpPr/>
          <p:nvPr/>
        </p:nvSpPr>
        <p:spPr>
          <a:xfrm rot="2961088">
            <a:off x="-3506765" y="3679338"/>
            <a:ext cx="6731349" cy="381915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6"/>
          <p:cNvSpPr/>
          <p:nvPr/>
        </p:nvSpPr>
        <p:spPr>
          <a:xfrm rot="-10009447" flipH="1">
            <a:off x="-3540460" y="4429249"/>
            <a:ext cx="6730315" cy="381856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6"/>
          <p:cNvSpPr/>
          <p:nvPr/>
        </p:nvSpPr>
        <p:spPr>
          <a:xfrm rot="-5400000">
            <a:off x="5274853" y="-49060"/>
            <a:ext cx="6730179" cy="381849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6"/>
          <p:cNvSpPr/>
          <p:nvPr/>
        </p:nvSpPr>
        <p:spPr>
          <a:xfrm flipH="1">
            <a:off x="1736559" y="157571"/>
            <a:ext cx="6731525" cy="381925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5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/>
          <p:nvPr/>
        </p:nvSpPr>
        <p:spPr>
          <a:xfrm rot="1096965" flipH="1">
            <a:off x="4853760" y="649170"/>
            <a:ext cx="6731383" cy="381917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8"/>
          <p:cNvSpPr/>
          <p:nvPr/>
        </p:nvSpPr>
        <p:spPr>
          <a:xfrm rot="-2929168">
            <a:off x="4987407" y="1107257"/>
            <a:ext cx="6731179" cy="381905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8"/>
          <p:cNvSpPr txBox="1">
            <a:spLocks noGrp="1"/>
          </p:cNvSpPr>
          <p:nvPr>
            <p:ph type="title"/>
          </p:nvPr>
        </p:nvSpPr>
        <p:spPr>
          <a:xfrm flipH="1">
            <a:off x="903525" y="975500"/>
            <a:ext cx="3547800" cy="10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8"/>
          <p:cNvSpPr txBox="1">
            <a:spLocks noGrp="1"/>
          </p:cNvSpPr>
          <p:nvPr>
            <p:ph type="subTitle" idx="1"/>
          </p:nvPr>
        </p:nvSpPr>
        <p:spPr>
          <a:xfrm flipH="1">
            <a:off x="903215" y="2070800"/>
            <a:ext cx="3547800" cy="23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71" name="Google Shape;171;p18"/>
          <p:cNvSpPr>
            <a:spLocks noGrp="1"/>
          </p:cNvSpPr>
          <p:nvPr>
            <p:ph type="pic" idx="2"/>
          </p:nvPr>
        </p:nvSpPr>
        <p:spPr>
          <a:xfrm>
            <a:off x="4774563" y="690300"/>
            <a:ext cx="3466200" cy="3762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172" name="Google Shape;172;p18"/>
          <p:cNvGrpSpPr/>
          <p:nvPr/>
        </p:nvGrpSpPr>
        <p:grpSpPr>
          <a:xfrm>
            <a:off x="-6486926" y="4814449"/>
            <a:ext cx="13452615" cy="381925"/>
            <a:chOff x="-396857" y="4814449"/>
            <a:chExt cx="13452615" cy="381925"/>
          </a:xfrm>
        </p:grpSpPr>
        <p:sp>
          <p:nvSpPr>
            <p:cNvPr id="173" name="Google Shape;173;p18"/>
            <p:cNvSpPr/>
            <p:nvPr/>
          </p:nvSpPr>
          <p:spPr>
            <a:xfrm flipH="1">
              <a:off x="-396857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8"/>
            <p:cNvSpPr/>
            <p:nvPr/>
          </p:nvSpPr>
          <p:spPr>
            <a:xfrm flipH="1">
              <a:off x="6324233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" name="Google Shape;175;p18"/>
          <p:cNvSpPr/>
          <p:nvPr/>
        </p:nvSpPr>
        <p:spPr>
          <a:xfrm rot="5400000">
            <a:off x="-2931774" y="3909707"/>
            <a:ext cx="6731525" cy="381925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0"/>
          <p:cNvSpPr txBox="1">
            <a:spLocks noGrp="1"/>
          </p:cNvSpPr>
          <p:nvPr>
            <p:ph type="subTitle" idx="1"/>
          </p:nvPr>
        </p:nvSpPr>
        <p:spPr>
          <a:xfrm>
            <a:off x="713225" y="2851025"/>
            <a:ext cx="7717500" cy="12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0"/>
          <p:cNvSpPr txBox="1">
            <a:spLocks noGrp="1"/>
          </p:cNvSpPr>
          <p:nvPr>
            <p:ph type="subTitle" idx="2"/>
          </p:nvPr>
        </p:nvSpPr>
        <p:spPr>
          <a:xfrm>
            <a:off x="713225" y="1448550"/>
            <a:ext cx="7717500" cy="12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0"/>
          <p:cNvSpPr/>
          <p:nvPr/>
        </p:nvSpPr>
        <p:spPr>
          <a:xfrm rot="1096965" flipH="1">
            <a:off x="5387076" y="243595"/>
            <a:ext cx="6731383" cy="381917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0"/>
          <p:cNvSpPr/>
          <p:nvPr/>
        </p:nvSpPr>
        <p:spPr>
          <a:xfrm rot="3011842" flipH="1">
            <a:off x="-2778280" y="4244577"/>
            <a:ext cx="6731051" cy="381898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0"/>
          <p:cNvSpPr/>
          <p:nvPr/>
        </p:nvSpPr>
        <p:spPr>
          <a:xfrm rot="1096965" flipH="1">
            <a:off x="-1823874" y="4751370"/>
            <a:ext cx="6731383" cy="381917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10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/>
          <p:nvPr/>
        </p:nvSpPr>
        <p:spPr>
          <a:xfrm rot="1096965" flipH="1">
            <a:off x="5387076" y="243595"/>
            <a:ext cx="6731383" cy="381917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1"/>
          <p:cNvSpPr/>
          <p:nvPr/>
        </p:nvSpPr>
        <p:spPr>
          <a:xfrm rot="3011842" flipH="1">
            <a:off x="-2778280" y="4244577"/>
            <a:ext cx="6731051" cy="381898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1"/>
          <p:cNvSpPr/>
          <p:nvPr/>
        </p:nvSpPr>
        <p:spPr>
          <a:xfrm rot="1096965" flipH="1">
            <a:off x="-1823874" y="4751370"/>
            <a:ext cx="6731383" cy="381917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200" name="Google Shape;200;p21"/>
          <p:cNvSpPr txBox="1">
            <a:spLocks noGrp="1"/>
          </p:cNvSpPr>
          <p:nvPr>
            <p:ph type="subTitle" idx="1"/>
          </p:nvPr>
        </p:nvSpPr>
        <p:spPr>
          <a:xfrm>
            <a:off x="4879900" y="1213625"/>
            <a:ext cx="3551100" cy="339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✰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1" name="Google Shape;201;p21"/>
          <p:cNvSpPr txBox="1">
            <a:spLocks noGrp="1"/>
          </p:cNvSpPr>
          <p:nvPr>
            <p:ph type="subTitle" idx="2"/>
          </p:nvPr>
        </p:nvSpPr>
        <p:spPr>
          <a:xfrm>
            <a:off x="713375" y="1213625"/>
            <a:ext cx="3551100" cy="339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✰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3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260" name="Google Shape;260;p26"/>
          <p:cNvSpPr/>
          <p:nvPr/>
        </p:nvSpPr>
        <p:spPr>
          <a:xfrm rot="909127">
            <a:off x="-3349421" y="4623793"/>
            <a:ext cx="6731976" cy="381951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1" name="Google Shape;261;p26"/>
          <p:cNvGrpSpPr/>
          <p:nvPr/>
        </p:nvGrpSpPr>
        <p:grpSpPr>
          <a:xfrm rot="10800000">
            <a:off x="-1282017" y="2"/>
            <a:ext cx="13452615" cy="381925"/>
            <a:chOff x="-396857" y="4814449"/>
            <a:chExt cx="13452615" cy="381925"/>
          </a:xfrm>
        </p:grpSpPr>
        <p:sp>
          <p:nvSpPr>
            <p:cNvPr id="262" name="Google Shape;262;p26"/>
            <p:cNvSpPr/>
            <p:nvPr/>
          </p:nvSpPr>
          <p:spPr>
            <a:xfrm flipH="1">
              <a:off x="-396857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6"/>
            <p:cNvSpPr/>
            <p:nvPr/>
          </p:nvSpPr>
          <p:spPr>
            <a:xfrm flipH="1">
              <a:off x="6324233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" name="Google Shape;264;p26"/>
          <p:cNvSpPr/>
          <p:nvPr/>
        </p:nvSpPr>
        <p:spPr>
          <a:xfrm rot="8821119">
            <a:off x="5151913" y="4623822"/>
            <a:ext cx="6731944" cy="381949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6"/>
          <p:cNvSpPr/>
          <p:nvPr/>
        </p:nvSpPr>
        <p:spPr>
          <a:xfrm rot="3827464">
            <a:off x="-3554128" y="2913457"/>
            <a:ext cx="6732354" cy="381972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2"/>
          <p:cNvSpPr/>
          <p:nvPr/>
        </p:nvSpPr>
        <p:spPr>
          <a:xfrm rot="-2961088" flipH="1">
            <a:off x="5539224" y="3599238"/>
            <a:ext cx="6731349" cy="381915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2"/>
          <p:cNvSpPr/>
          <p:nvPr/>
        </p:nvSpPr>
        <p:spPr>
          <a:xfrm rot="10009447">
            <a:off x="5435540" y="4429249"/>
            <a:ext cx="6730315" cy="381856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2"/>
          <p:cNvSpPr/>
          <p:nvPr/>
        </p:nvSpPr>
        <p:spPr>
          <a:xfrm rot="5400000" flipH="1">
            <a:off x="-2845586" y="-49060"/>
            <a:ext cx="6730179" cy="381849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2"/>
          <p:cNvSpPr/>
          <p:nvPr/>
        </p:nvSpPr>
        <p:spPr>
          <a:xfrm rot="-971693">
            <a:off x="-3575688" y="403196"/>
            <a:ext cx="6731395" cy="381918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3"/>
          <p:cNvSpPr/>
          <p:nvPr/>
        </p:nvSpPr>
        <p:spPr>
          <a:xfrm>
            <a:off x="1053600" y="661950"/>
            <a:ext cx="7036800" cy="38196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33"/>
          <p:cNvSpPr/>
          <p:nvPr/>
        </p:nvSpPr>
        <p:spPr>
          <a:xfrm>
            <a:off x="1053600" y="4711675"/>
            <a:ext cx="7036800" cy="33339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33"/>
          <p:cNvSpPr/>
          <p:nvPr/>
        </p:nvSpPr>
        <p:spPr>
          <a:xfrm>
            <a:off x="1053600" y="-2902075"/>
            <a:ext cx="7036800" cy="33339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3"/>
          <p:cNvSpPr/>
          <p:nvPr/>
        </p:nvSpPr>
        <p:spPr>
          <a:xfrm rot="-1978881">
            <a:off x="-3206391" y="348530"/>
            <a:ext cx="6731944" cy="381949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3"/>
          <p:cNvSpPr/>
          <p:nvPr/>
        </p:nvSpPr>
        <p:spPr>
          <a:xfrm rot="-1978881">
            <a:off x="4094834" y="5361905"/>
            <a:ext cx="6731944" cy="381949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1" name="Google Shape;351;p33"/>
          <p:cNvGrpSpPr/>
          <p:nvPr/>
        </p:nvGrpSpPr>
        <p:grpSpPr>
          <a:xfrm>
            <a:off x="-2235832" y="4814449"/>
            <a:ext cx="13452615" cy="381925"/>
            <a:chOff x="-396857" y="4814449"/>
            <a:chExt cx="13452615" cy="381925"/>
          </a:xfrm>
        </p:grpSpPr>
        <p:sp>
          <p:nvSpPr>
            <p:cNvPr id="352" name="Google Shape;352;p33"/>
            <p:cNvSpPr/>
            <p:nvPr/>
          </p:nvSpPr>
          <p:spPr>
            <a:xfrm flipH="1">
              <a:off x="-396857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3"/>
            <p:cNvSpPr/>
            <p:nvPr/>
          </p:nvSpPr>
          <p:spPr>
            <a:xfrm flipH="1">
              <a:off x="6324233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4" name="Google Shape;354;p33"/>
          <p:cNvGrpSpPr/>
          <p:nvPr/>
        </p:nvGrpSpPr>
        <p:grpSpPr>
          <a:xfrm>
            <a:off x="-2235832" y="-95676"/>
            <a:ext cx="13452615" cy="381925"/>
            <a:chOff x="-396857" y="4814449"/>
            <a:chExt cx="13452615" cy="381925"/>
          </a:xfrm>
        </p:grpSpPr>
        <p:sp>
          <p:nvSpPr>
            <p:cNvPr id="355" name="Google Shape;355;p33"/>
            <p:cNvSpPr/>
            <p:nvPr/>
          </p:nvSpPr>
          <p:spPr>
            <a:xfrm flipH="1">
              <a:off x="-396857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3"/>
            <p:cNvSpPr/>
            <p:nvPr/>
          </p:nvSpPr>
          <p:spPr>
            <a:xfrm flipH="1">
              <a:off x="6324233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kbak One"/>
              <a:buNone/>
              <a:defRPr sz="32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alanquin Dark"/>
              <a:buNone/>
              <a:defRPr sz="32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alanquin Dark"/>
              <a:buNone/>
              <a:defRPr sz="32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alanquin Dark"/>
              <a:buNone/>
              <a:defRPr sz="32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alanquin Dark"/>
              <a:buNone/>
              <a:defRPr sz="32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alanquin Dark"/>
              <a:buNone/>
              <a:defRPr sz="32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alanquin Dark"/>
              <a:buNone/>
              <a:defRPr sz="32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alanquin Dark"/>
              <a:buNone/>
              <a:defRPr sz="32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alanquin Dark"/>
              <a:buNone/>
              <a:defRPr sz="32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✰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6" r:id="rId4"/>
    <p:sldLayoutId id="2147483658" r:id="rId5"/>
    <p:sldLayoutId id="2147483661" r:id="rId6"/>
    <p:sldLayoutId id="2147483662" r:id="rId7"/>
    <p:sldLayoutId id="2147483664" r:id="rId8"/>
    <p:sldLayoutId id="2147483666" r:id="rId9"/>
    <p:sldLayoutId id="2147483667" r:id="rId10"/>
    <p:sldLayoutId id="2147483672" r:id="rId11"/>
    <p:sldLayoutId id="2147483678" r:id="rId12"/>
    <p:sldLayoutId id="2147483679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8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7"/>
          <p:cNvSpPr txBox="1">
            <a:spLocks noGrp="1"/>
          </p:cNvSpPr>
          <p:nvPr>
            <p:ph type="ctrTitle"/>
          </p:nvPr>
        </p:nvSpPr>
        <p:spPr>
          <a:xfrm>
            <a:off x="2307675" y="1273475"/>
            <a:ext cx="4528800" cy="210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Exploring Movie &amp; TV Metadata with </a:t>
            </a:r>
            <a:r>
              <a:rPr lang="en-US" sz="4000" dirty="0">
                <a:solidFill>
                  <a:schemeClr val="bg1"/>
                </a:solidFill>
              </a:rPr>
              <a:t>Excel, SQL, Python &amp; Power BI</a:t>
            </a:r>
            <a:endParaRPr sz="4000" dirty="0">
              <a:solidFill>
                <a:schemeClr val="bg1"/>
              </a:solidFill>
            </a:endParaRPr>
          </a:p>
        </p:txBody>
      </p:sp>
      <p:sp>
        <p:nvSpPr>
          <p:cNvPr id="368" name="Google Shape;368;p37"/>
          <p:cNvSpPr txBox="1">
            <a:spLocks noGrp="1"/>
          </p:cNvSpPr>
          <p:nvPr>
            <p:ph type="subTitle" idx="1"/>
          </p:nvPr>
        </p:nvSpPr>
        <p:spPr>
          <a:xfrm>
            <a:off x="2307675" y="3376775"/>
            <a:ext cx="45288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A data-driven exploration of entertainment trends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874C9D-3BF1-65F1-189F-5AB9F68CD64B}"/>
              </a:ext>
            </a:extLst>
          </p:cNvPr>
          <p:cNvSpPr txBox="1"/>
          <p:nvPr/>
        </p:nvSpPr>
        <p:spPr>
          <a:xfrm>
            <a:off x="5621572" y="3870025"/>
            <a:ext cx="2608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Jasika Nawreen Samantha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Project Objective</a:t>
            </a:r>
          </a:p>
        </p:txBody>
      </p:sp>
      <p:graphicFrame>
        <p:nvGraphicFramePr>
          <p:cNvPr id="374" name="Google Shape;374;p38"/>
          <p:cNvGraphicFramePr/>
          <p:nvPr>
            <p:extLst>
              <p:ext uri="{D42A27DB-BD31-4B8C-83A1-F6EECF244321}">
                <p14:modId xmlns:p14="http://schemas.microsoft.com/office/powerpoint/2010/main" val="694730441"/>
              </p:ext>
            </p:extLst>
          </p:nvPr>
        </p:nvGraphicFramePr>
        <p:xfrm>
          <a:off x="714390" y="2057619"/>
          <a:ext cx="7716335" cy="1401960"/>
        </p:xfrm>
        <a:graphic>
          <a:graphicData uri="http://schemas.openxmlformats.org/drawingml/2006/table">
            <a:tbl>
              <a:tblPr>
                <a:noFill/>
                <a:tableStyleId>{A2908BD9-8A69-4AF4-A873-9AF45CCA9446}</a:tableStyleId>
              </a:tblPr>
              <a:tblGrid>
                <a:gridCol w="1474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1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Excel</a:t>
                      </a: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n-US" sz="1100" dirty="0">
                        <a:solidFill>
                          <a:schemeClr val="bg1"/>
                        </a:solidFill>
                        <a:latin typeface="Bakbak One"/>
                        <a:ea typeface="Bakbak One"/>
                        <a:cs typeface="Bakbak One"/>
                        <a:sym typeface="Bakbak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i="0" dirty="0">
                          <a:solidFill>
                            <a:schemeClr val="tx1"/>
                          </a:solidFill>
                          <a:latin typeface="Didact Gothic" pitchFamily="2" charset="0"/>
                        </a:rPr>
                        <a:t>Excel provided a fast and intuitive way to clean and explore the structure of the dataset.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56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SQL</a:t>
                      </a:r>
                      <a:endParaRPr sz="1100" dirty="0">
                        <a:solidFill>
                          <a:schemeClr val="bg1"/>
                        </a:solidFill>
                        <a:latin typeface="Bakbak One"/>
                        <a:ea typeface="Bakbak One"/>
                        <a:cs typeface="Bakbak One"/>
                        <a:sym typeface="Bakbak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i="0" dirty="0">
                          <a:solidFill>
                            <a:schemeClr val="tx1"/>
                          </a:solidFill>
                          <a:latin typeface="Didact Gothic" pitchFamily="2" charset="0"/>
                        </a:rPr>
                        <a:t>SQL enabled efficient querying, restructuring, and summarizing the large metadata for analysis.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56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sz="1100" dirty="0">
                        <a:solidFill>
                          <a:schemeClr val="bg1"/>
                        </a:solidFill>
                        <a:latin typeface="Bakbak One"/>
                        <a:ea typeface="Bakbak One"/>
                        <a:cs typeface="Bakbak One"/>
                        <a:sym typeface="Bakbak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Didact Gothic" pitchFamily="2" charset="0"/>
                        </a:rPr>
                        <a:t>Python allowed for in-depth exploration, pattern recognition, and custom visuals beyond Excel or SQL.</a:t>
                      </a:r>
                      <a:endParaRPr sz="1100" dirty="0">
                        <a:solidFill>
                          <a:schemeClr val="tx1"/>
                        </a:solidFill>
                        <a:latin typeface="Didact Gothic" pitchFamily="2" charset="0"/>
                        <a:ea typeface="Didact Gothic"/>
                        <a:cs typeface="Didact Gothic"/>
                        <a:sym typeface="Didact Gothic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56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Power BI</a:t>
                      </a: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sz="1100" dirty="0">
                        <a:solidFill>
                          <a:schemeClr val="bg1"/>
                        </a:solidFill>
                        <a:latin typeface="Bakbak One"/>
                        <a:ea typeface="Bakbak One"/>
                        <a:cs typeface="Bakbak One"/>
                        <a:sym typeface="Bakbak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i="0" dirty="0">
                          <a:solidFill>
                            <a:schemeClr val="tx1"/>
                          </a:solidFill>
                          <a:latin typeface="Didact Gothic" pitchFamily="2" charset="0"/>
                        </a:rPr>
                        <a:t>Power BI brought the analysis to life with dynamic visuals and an interactive narrative.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5" name="Google Shape;375;p38"/>
          <p:cNvSpPr txBox="1"/>
          <p:nvPr/>
        </p:nvSpPr>
        <p:spPr>
          <a:xfrm>
            <a:off x="90688" y="1066108"/>
            <a:ext cx="900087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Analyze IMDb movie data to uncover trends, top performers, and patterns in genres, ratings, revenue, and director influence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.</a:t>
            </a:r>
            <a:endParaRPr sz="1200" dirty="0">
              <a:solidFill>
                <a:schemeClr val="tx2">
                  <a:lumMod val="75000"/>
                </a:schemeClr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376" name="Google Shape;376;p38"/>
          <p:cNvSpPr txBox="1"/>
          <p:nvPr/>
        </p:nvSpPr>
        <p:spPr>
          <a:xfrm>
            <a:off x="223416" y="4065338"/>
            <a:ext cx="3839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200" dirty="0">
                <a:solidFill>
                  <a:schemeClr val="tx1"/>
                </a:solidFill>
              </a:rPr>
              <a:t>Source</a:t>
            </a:r>
            <a:r>
              <a:rPr lang="en" sz="1200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:</a:t>
            </a:r>
            <a:br>
              <a:rPr lang="en" sz="1200" dirty="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</a:br>
            <a:r>
              <a:rPr lang="en-US" sz="1200" dirty="0">
                <a:solidFill>
                  <a:schemeClr val="bg1"/>
                </a:solidFill>
              </a:rPr>
              <a:t>Kaggle | </a:t>
            </a:r>
            <a:r>
              <a:rPr lang="en" sz="1200" dirty="0">
                <a:solidFill>
                  <a:schemeClr val="bg1"/>
                </a:solidFill>
                <a:uFill>
                  <a:noFill/>
                </a:uFill>
                <a:latin typeface="+mj-lt"/>
                <a:ea typeface="Bakbak One"/>
                <a:cs typeface="Bakbak One"/>
                <a:sym typeface="Bakbak One"/>
              </a:rPr>
              <a:t>Entertainment | Internship</a:t>
            </a:r>
            <a:endParaRPr sz="1200" dirty="0">
              <a:solidFill>
                <a:schemeClr val="lt1"/>
              </a:solidFill>
              <a:latin typeface="+mj-lt"/>
              <a:ea typeface="Bakbak One"/>
              <a:cs typeface="Bakbak One"/>
              <a:sym typeface="Bakbak One"/>
            </a:endParaRPr>
          </a:p>
        </p:txBody>
      </p:sp>
      <p:sp>
        <p:nvSpPr>
          <p:cNvPr id="377" name="Google Shape;377;p38"/>
          <p:cNvSpPr txBox="1"/>
          <p:nvPr/>
        </p:nvSpPr>
        <p:spPr>
          <a:xfrm>
            <a:off x="4063116" y="4077392"/>
            <a:ext cx="481054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200" dirty="0">
                <a:solidFill>
                  <a:schemeClr val="tx1"/>
                </a:solidFill>
              </a:rPr>
              <a:t>Key columns: </a:t>
            </a:r>
          </a:p>
          <a:p>
            <a:pPr lvl="0" algn="ctr"/>
            <a:r>
              <a:rPr lang="en" sz="1200" dirty="0">
                <a:solidFill>
                  <a:schemeClr val="lt1"/>
                </a:solidFill>
                <a:uFill>
                  <a:noFill/>
                </a:uFill>
                <a:latin typeface="+mn-lt"/>
                <a:ea typeface="Bakbak One"/>
                <a:cs typeface="Bakbak One"/>
                <a:sym typeface="Bakbak One"/>
              </a:rPr>
              <a:t>movie</a:t>
            </a:r>
            <a:r>
              <a:rPr lang="en" sz="1200" dirty="0">
                <a:solidFill>
                  <a:schemeClr val="lt1"/>
                </a:solidFill>
                <a:latin typeface="+mn-lt"/>
                <a:ea typeface="Bakbak One"/>
                <a:cs typeface="Bakbak One"/>
                <a:sym typeface="Bakbak One"/>
              </a:rPr>
              <a:t> | </a:t>
            </a:r>
            <a:r>
              <a:rPr lang="en" sz="1200" dirty="0">
                <a:solidFill>
                  <a:schemeClr val="lt1"/>
                </a:solidFill>
                <a:uFill>
                  <a:noFill/>
                </a:uFill>
                <a:latin typeface="+mn-lt"/>
                <a:ea typeface="Bakbak One"/>
                <a:cs typeface="Bakbak One"/>
                <a:sym typeface="Bakbak One"/>
              </a:rPr>
              <a:t>genre</a:t>
            </a:r>
            <a:r>
              <a:rPr lang="en" sz="1200" dirty="0">
                <a:solidFill>
                  <a:schemeClr val="lt1"/>
                </a:solidFill>
                <a:latin typeface="+mn-lt"/>
                <a:ea typeface="Bakbak One"/>
                <a:cs typeface="Bakbak One"/>
                <a:sym typeface="Bakbak One"/>
              </a:rPr>
              <a:t> | </a:t>
            </a:r>
            <a:r>
              <a:rPr lang="en" sz="1200" dirty="0">
                <a:solidFill>
                  <a:schemeClr val="lt1"/>
                </a:solidFill>
                <a:uFill>
                  <a:noFill/>
                </a:uFill>
                <a:latin typeface="+mn-lt"/>
                <a:ea typeface="Bakbak One"/>
                <a:cs typeface="Bakbak One"/>
                <a:sym typeface="Bakbak One"/>
              </a:rPr>
              <a:t>runtime</a:t>
            </a:r>
            <a:r>
              <a:rPr lang="en" sz="1200" dirty="0">
                <a:solidFill>
                  <a:schemeClr val="lt1"/>
                </a:solidFill>
                <a:latin typeface="+mn-lt"/>
                <a:ea typeface="Bakbak One"/>
                <a:cs typeface="Bakbak One"/>
                <a:sym typeface="Bakbak One"/>
              </a:rPr>
              <a:t> | </a:t>
            </a:r>
            <a:r>
              <a:rPr lang="en" sz="1200" dirty="0">
                <a:solidFill>
                  <a:schemeClr val="lt1"/>
                </a:solidFill>
                <a:uFill>
                  <a:noFill/>
                </a:uFill>
                <a:latin typeface="+mn-lt"/>
                <a:ea typeface="Bakbak One"/>
                <a:cs typeface="Bakbak One"/>
                <a:sym typeface="Bakbak One"/>
              </a:rPr>
              <a:t>certificate </a:t>
            </a:r>
            <a:r>
              <a:rPr lang="en" sz="1200" dirty="0">
                <a:solidFill>
                  <a:schemeClr val="lt1"/>
                </a:solidFill>
                <a:latin typeface="+mn-lt"/>
                <a:ea typeface="Bakbak One"/>
                <a:cs typeface="Bakbak One"/>
                <a:sym typeface="Bakbak One"/>
              </a:rPr>
              <a:t>| </a:t>
            </a:r>
            <a:r>
              <a:rPr lang="en" sz="1200" dirty="0">
                <a:solidFill>
                  <a:schemeClr val="lt1"/>
                </a:solidFill>
                <a:uFill>
                  <a:noFill/>
                </a:uFill>
                <a:latin typeface="+mn-lt"/>
                <a:ea typeface="Bakbak One"/>
                <a:cs typeface="Bakbak One"/>
                <a:sym typeface="Bakbak One"/>
              </a:rPr>
              <a:t>rating | votes | director </a:t>
            </a:r>
            <a:endParaRPr sz="1200" dirty="0">
              <a:solidFill>
                <a:schemeClr val="lt1"/>
              </a:solidFill>
              <a:latin typeface="+mn-lt"/>
              <a:ea typeface="Bakbak One"/>
              <a:cs typeface="Bakbak One"/>
              <a:sym typeface="Bakbak On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478097-B223-BABC-BA89-3F9F47F027D1}"/>
              </a:ext>
            </a:extLst>
          </p:cNvPr>
          <p:cNvSpPr txBox="1"/>
          <p:nvPr/>
        </p:nvSpPr>
        <p:spPr>
          <a:xfrm>
            <a:off x="294199" y="1484919"/>
            <a:ext cx="25444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FB3F4"/>
                </a:solidFill>
                <a:latin typeface="Didact Gothic" pitchFamily="2" charset="0"/>
              </a:rPr>
              <a:t>Tools Behind the Insights: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9"/>
          <p:cNvSpPr txBox="1">
            <a:spLocks noGrp="1"/>
          </p:cNvSpPr>
          <p:nvPr>
            <p:ph type="title"/>
          </p:nvPr>
        </p:nvSpPr>
        <p:spPr>
          <a:xfrm flipH="1">
            <a:off x="903525" y="975500"/>
            <a:ext cx="3547800" cy="10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What Was Our Goal?</a:t>
            </a:r>
          </a:p>
        </p:txBody>
      </p:sp>
      <p:sp>
        <p:nvSpPr>
          <p:cNvPr id="383" name="Google Shape;383;p39"/>
          <p:cNvSpPr txBox="1">
            <a:spLocks noGrp="1"/>
          </p:cNvSpPr>
          <p:nvPr>
            <p:ph type="subTitle" idx="1"/>
          </p:nvPr>
        </p:nvSpPr>
        <p:spPr>
          <a:xfrm flipH="1">
            <a:off x="903215" y="2070800"/>
            <a:ext cx="3789462" cy="23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6032" lvl="0" indent="-216916" algn="l" rtl="0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" dirty="0"/>
              <a:t>Analyze metadata from IMDB-listed movies and shows.</a:t>
            </a:r>
            <a:endParaRPr dirty="0"/>
          </a:p>
          <a:p>
            <a:pPr marL="256032" lvl="0" indent="-216916" algn="l" rtl="0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" dirty="0"/>
              <a:t>Discover patterns in genres, rating and directors.</a:t>
            </a:r>
          </a:p>
          <a:p>
            <a:pPr marL="256032" lvl="0" indent="-216916" algn="l" rtl="0">
              <a:spcBef>
                <a:spcPts val="1000"/>
              </a:spcBef>
              <a:spcAft>
                <a:spcPts val="1000"/>
              </a:spcAft>
              <a:buSzPts val="1400"/>
              <a:buAutoNum type="arabicPeriod"/>
            </a:pPr>
            <a:r>
              <a:rPr lang="en-US" dirty="0"/>
              <a:t>Visualize audience response and industry trends</a:t>
            </a:r>
          </a:p>
          <a:p>
            <a:pPr marL="256032" lvl="0" indent="-216916" algn="l" rtl="0">
              <a:spcBef>
                <a:spcPts val="1000"/>
              </a:spcBef>
              <a:spcAft>
                <a:spcPts val="1000"/>
              </a:spcAft>
              <a:buSzPts val="1400"/>
              <a:buAutoNum type="arabicPeriod"/>
            </a:pPr>
            <a:r>
              <a:rPr lang="en-US" dirty="0"/>
              <a:t>Build an insightful dashboard for storytelling and decision making</a:t>
            </a:r>
          </a:p>
        </p:txBody>
      </p:sp>
      <p:pic>
        <p:nvPicPr>
          <p:cNvPr id="384" name="Google Shape;384;p3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942" r="3942"/>
          <a:stretch/>
        </p:blipFill>
        <p:spPr>
          <a:xfrm>
            <a:off x="4774563" y="690300"/>
            <a:ext cx="3466200" cy="3762900"/>
          </a:xfrm>
          <a:prstGeom prst="roundRect">
            <a:avLst>
              <a:gd name="adj" fmla="val 16667"/>
            </a:avLst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18AB889-654D-1DCB-647C-3561647D9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488" y="149886"/>
            <a:ext cx="7704000" cy="572700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Visual Insights with Excel</a:t>
            </a:r>
          </a:p>
        </p:txBody>
      </p:sp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BCA0FA7-8370-633A-B422-9C354425B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49218"/>
            <a:ext cx="7772400" cy="414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065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DDEBB-19DB-D454-503D-B5F3955B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537" y="97103"/>
            <a:ext cx="7717500" cy="572700"/>
          </a:xfrm>
        </p:spPr>
        <p:txBody>
          <a:bodyPr/>
          <a:lstStyle/>
          <a:p>
            <a:r>
              <a:rPr lang="en-US" dirty="0">
                <a:solidFill>
                  <a:srgbClr val="898DF5"/>
                </a:solidFill>
              </a:rPr>
              <a:t>Structured Insights with SQL</a:t>
            </a:r>
            <a:br>
              <a:rPr lang="en-US" dirty="0"/>
            </a:b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D6A771C0-75A9-006F-759F-7182383418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70533" y="1006891"/>
            <a:ext cx="3267986" cy="2802766"/>
          </a:xfrm>
        </p:spPr>
        <p:txBody>
          <a:bodyPr/>
          <a:lstStyle/>
          <a:p>
            <a:r>
              <a:rPr lang="en-US" dirty="0"/>
              <a:t>Most Common Movie Genres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57A5505-91B1-F85E-085C-6BD71479AAC0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54232" y="1006891"/>
            <a:ext cx="3103251" cy="2802766"/>
          </a:xfrm>
        </p:spPr>
        <p:txBody>
          <a:bodyPr/>
          <a:lstStyle/>
          <a:p>
            <a:r>
              <a:rPr lang="en-US" dirty="0"/>
              <a:t>Genre Distribution</a:t>
            </a:r>
          </a:p>
        </p:txBody>
      </p:sp>
      <p:sp>
        <p:nvSpPr>
          <p:cNvPr id="16" name="Subtitle 6">
            <a:extLst>
              <a:ext uri="{FF2B5EF4-FFF2-40B4-BE49-F238E27FC236}">
                <a16:creationId xmlns:a16="http://schemas.microsoft.com/office/drawing/2014/main" id="{A8683F7D-E056-6DB2-885B-6A2B25483037}"/>
              </a:ext>
            </a:extLst>
          </p:cNvPr>
          <p:cNvSpPr txBox="1">
            <a:spLocks/>
          </p:cNvSpPr>
          <p:nvPr/>
        </p:nvSpPr>
        <p:spPr>
          <a:xfrm>
            <a:off x="6173784" y="1006891"/>
            <a:ext cx="3103251" cy="2802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✰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 dirty="0"/>
              <a:t>Average Rating by Genre</a:t>
            </a:r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DF71BD-3071-AD58-5340-2D0642172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637" y="1447110"/>
            <a:ext cx="2702550" cy="2224322"/>
          </a:xfrm>
          <a:prstGeom prst="rect">
            <a:avLst/>
          </a:prstGeom>
        </p:spPr>
      </p:pic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6EDFEC-9268-AB73-D640-7F886047C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00" y="1459589"/>
            <a:ext cx="2802965" cy="2199364"/>
          </a:xfrm>
          <a:prstGeom prst="rect">
            <a:avLst/>
          </a:prstGeom>
        </p:spPr>
      </p:pic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9929063-6C02-77EB-5132-35BE4EB209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724" y="1437060"/>
            <a:ext cx="2896634" cy="226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258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75AAD-A3D4-9E9F-CF0D-4F0646D65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344" y="539500"/>
            <a:ext cx="8160381" cy="572700"/>
          </a:xfrm>
        </p:spPr>
        <p:txBody>
          <a:bodyPr/>
          <a:lstStyle/>
          <a:p>
            <a:r>
              <a:rPr lang="en-US" sz="2800" dirty="0">
                <a:solidFill>
                  <a:srgbClr val="898DF5"/>
                </a:solidFill>
              </a:rPr>
              <a:t>Power Players of the Screen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74D437-7EBA-DBD6-1DE5-9F0435C95A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1513" y="1213625"/>
            <a:ext cx="3779487" cy="3390600"/>
          </a:xfrm>
        </p:spPr>
        <p:txBody>
          <a:bodyPr/>
          <a:lstStyle/>
          <a:p>
            <a:r>
              <a:rPr lang="en-US" dirty="0"/>
              <a:t>Top rated movies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27756E5-8737-A104-143D-B0BAD018E833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rPr lang="en-US" dirty="0"/>
              <a:t>Star-wise Movie Count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EC081D-FB52-3759-D1A7-4D2B5D505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24" y="1654413"/>
            <a:ext cx="3463180" cy="2509023"/>
          </a:xfrm>
          <a:prstGeom prst="rect">
            <a:avLst/>
          </a:prstGeom>
        </p:spPr>
      </p:pic>
      <p:pic>
        <p:nvPicPr>
          <p:cNvPr id="8" name="Picture 7" descr="A screenshot of a movie list&#10;&#10;AI-generated content may be incorrect.">
            <a:extLst>
              <a:ext uri="{FF2B5EF4-FFF2-40B4-BE49-F238E27FC236}">
                <a16:creationId xmlns:a16="http://schemas.microsoft.com/office/drawing/2014/main" id="{DE9D2561-A181-768A-7D86-86F117547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257" y="1636750"/>
            <a:ext cx="3670368" cy="252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349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E726B-193D-2E7F-6331-865EC1349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Digging Deeper with Python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623A97-5C16-2733-C90B-34C343D65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01886" y="1141391"/>
            <a:ext cx="3551100" cy="3390600"/>
          </a:xfrm>
        </p:spPr>
        <p:txBody>
          <a:bodyPr/>
          <a:lstStyle/>
          <a:p>
            <a:r>
              <a:rPr lang="en-US" dirty="0"/>
              <a:t>Average Rating by Genre</a:t>
            </a:r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F683C78-5F03-5665-7A07-6640C1E051DD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00843" y="1143023"/>
            <a:ext cx="3834771" cy="3390601"/>
          </a:xfrm>
        </p:spPr>
        <p:txBody>
          <a:bodyPr/>
          <a:lstStyle/>
          <a:p>
            <a:r>
              <a:rPr lang="en-US" dirty="0"/>
              <a:t>Genre Breakdown</a:t>
            </a:r>
          </a:p>
          <a:p>
            <a:pPr marL="139700" indent="0">
              <a:buNone/>
            </a:pPr>
            <a:endParaRPr lang="en-US" dirty="0"/>
          </a:p>
        </p:txBody>
      </p:sp>
      <p:pic>
        <p:nvPicPr>
          <p:cNvPr id="6" name="Picture 5" descr="A graph with blue and black text&#10;&#10;AI-generated content may be incorrect.">
            <a:extLst>
              <a:ext uri="{FF2B5EF4-FFF2-40B4-BE49-F238E27FC236}">
                <a16:creationId xmlns:a16="http://schemas.microsoft.com/office/drawing/2014/main" id="{0715F18B-4BF2-5249-47C9-6DE9777EC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3" y="1646008"/>
            <a:ext cx="2712258" cy="1997661"/>
          </a:xfrm>
          <a:prstGeom prst="rect">
            <a:avLst/>
          </a:prstGeom>
        </p:spPr>
      </p:pic>
      <p:pic>
        <p:nvPicPr>
          <p:cNvPr id="8" name="Picture 7" descr="A graph with orange bars&#10;&#10;AI-generated content may be incorrect.">
            <a:extLst>
              <a:ext uri="{FF2B5EF4-FFF2-40B4-BE49-F238E27FC236}">
                <a16:creationId xmlns:a16="http://schemas.microsoft.com/office/drawing/2014/main" id="{54A0DF43-7CB3-1644-38CE-00D8CBC73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990" y="1590547"/>
            <a:ext cx="2855879" cy="2077217"/>
          </a:xfrm>
          <a:prstGeom prst="rect">
            <a:avLst/>
          </a:prstGeom>
        </p:spPr>
      </p:pic>
      <p:sp>
        <p:nvSpPr>
          <p:cNvPr id="9" name="Subtitle 3">
            <a:extLst>
              <a:ext uri="{FF2B5EF4-FFF2-40B4-BE49-F238E27FC236}">
                <a16:creationId xmlns:a16="http://schemas.microsoft.com/office/drawing/2014/main" id="{CCAA096D-F863-230E-386C-DED68783D081}"/>
              </a:ext>
            </a:extLst>
          </p:cNvPr>
          <p:cNvSpPr txBox="1">
            <a:spLocks/>
          </p:cNvSpPr>
          <p:nvPr/>
        </p:nvSpPr>
        <p:spPr>
          <a:xfrm>
            <a:off x="2909655" y="1127228"/>
            <a:ext cx="3134508" cy="3390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✰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 dirty="0"/>
              <a:t>Top 10 Most Popular Genres</a:t>
            </a:r>
          </a:p>
        </p:txBody>
      </p:sp>
      <p:pic>
        <p:nvPicPr>
          <p:cNvPr id="11" name="Picture 10" descr="A graph of a bar&#10;&#10;AI-generated content may be incorrect.">
            <a:extLst>
              <a:ext uri="{FF2B5EF4-FFF2-40B4-BE49-F238E27FC236}">
                <a16:creationId xmlns:a16="http://schemas.microsoft.com/office/drawing/2014/main" id="{3B8B0919-50A1-D434-CDA3-C11BE3C1A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1929" y="1614643"/>
            <a:ext cx="3134507" cy="202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793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3ACB4-56F0-5A50-275B-758789437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Patterns in Ratings, Directors &amp; Star Power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2A0AA5-1B49-E118-4F56-0ADBCC78A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7588" y="1204400"/>
            <a:ext cx="2769463" cy="3390600"/>
          </a:xfrm>
        </p:spPr>
        <p:txBody>
          <a:bodyPr/>
          <a:lstStyle/>
          <a:p>
            <a:r>
              <a:rPr lang="en-US" dirty="0"/>
              <a:t>Which Stars Appear Most Often?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F4D2784-9C90-AD36-A43B-53985E02B2B6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61763" y="1213400"/>
            <a:ext cx="3197832" cy="3390600"/>
          </a:xfrm>
        </p:spPr>
        <p:txBody>
          <a:bodyPr/>
          <a:lstStyle/>
          <a:p>
            <a:r>
              <a:rPr lang="en-US" dirty="0"/>
              <a:t>Movies by Certification and Average Rating</a:t>
            </a:r>
          </a:p>
        </p:txBody>
      </p:sp>
      <p:pic>
        <p:nvPicPr>
          <p:cNvPr id="6" name="Picture 5" descr="A graph of a number of percents&#10;&#10;AI-generated content may be incorrect.">
            <a:extLst>
              <a:ext uri="{FF2B5EF4-FFF2-40B4-BE49-F238E27FC236}">
                <a16:creationId xmlns:a16="http://schemas.microsoft.com/office/drawing/2014/main" id="{77EAA603-BE40-7DC1-A78D-6B002C666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63" y="1767911"/>
            <a:ext cx="2791372" cy="2282025"/>
          </a:xfrm>
          <a:prstGeom prst="rect">
            <a:avLst/>
          </a:prstGeom>
        </p:spPr>
      </p:pic>
      <p:sp>
        <p:nvSpPr>
          <p:cNvPr id="7" name="Subtitle 3">
            <a:extLst>
              <a:ext uri="{FF2B5EF4-FFF2-40B4-BE49-F238E27FC236}">
                <a16:creationId xmlns:a16="http://schemas.microsoft.com/office/drawing/2014/main" id="{ED27B83F-7E19-295E-78F0-793C332DA423}"/>
              </a:ext>
            </a:extLst>
          </p:cNvPr>
          <p:cNvSpPr txBox="1">
            <a:spLocks/>
          </p:cNvSpPr>
          <p:nvPr/>
        </p:nvSpPr>
        <p:spPr>
          <a:xfrm>
            <a:off x="3079756" y="1204400"/>
            <a:ext cx="2944589" cy="3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✰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 dirty="0"/>
              <a:t>Trend of Popular Directors by Ratings</a:t>
            </a:r>
          </a:p>
        </p:txBody>
      </p:sp>
      <p:pic>
        <p:nvPicPr>
          <p:cNvPr id="9" name="Picture 8" descr="A graph with blue and white stripes&#10;&#10;AI-generated content may be incorrect.">
            <a:extLst>
              <a:ext uri="{FF2B5EF4-FFF2-40B4-BE49-F238E27FC236}">
                <a16:creationId xmlns:a16="http://schemas.microsoft.com/office/drawing/2014/main" id="{1F864712-62B7-6BC5-08E3-DC65A8FDA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4350" y="1764761"/>
            <a:ext cx="3044615" cy="2282025"/>
          </a:xfrm>
          <a:prstGeom prst="rect">
            <a:avLst/>
          </a:prstGeom>
        </p:spPr>
      </p:pic>
      <p:pic>
        <p:nvPicPr>
          <p:cNvPr id="11" name="Picture 10" descr="A graph of a movie star&#10;&#10;AI-generated content may be incorrect.">
            <a:extLst>
              <a:ext uri="{FF2B5EF4-FFF2-40B4-BE49-F238E27FC236}">
                <a16:creationId xmlns:a16="http://schemas.microsoft.com/office/drawing/2014/main" id="{E6275760-F6C2-245C-C9D7-299234DD7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588" y="1767912"/>
            <a:ext cx="2756664" cy="228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85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" name="Google Shape;616;p5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5060" b="15053"/>
          <a:stretch/>
        </p:blipFill>
        <p:spPr>
          <a:xfrm flipH="1">
            <a:off x="847488" y="690300"/>
            <a:ext cx="3466200" cy="3762900"/>
          </a:xfrm>
          <a:prstGeom prst="roundRect">
            <a:avLst>
              <a:gd name="adj" fmla="val 16667"/>
            </a:avLst>
          </a:prstGeom>
          <a:ln>
            <a:noFill/>
          </a:ln>
        </p:spPr>
      </p:pic>
      <p:sp>
        <p:nvSpPr>
          <p:cNvPr id="617" name="Google Shape;617;p52"/>
          <p:cNvSpPr txBox="1">
            <a:spLocks noGrp="1"/>
          </p:cNvSpPr>
          <p:nvPr>
            <p:ph type="title"/>
          </p:nvPr>
        </p:nvSpPr>
        <p:spPr>
          <a:xfrm>
            <a:off x="4627660" y="169489"/>
            <a:ext cx="3252310" cy="104162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400" dirty="0">
                <a:solidFill>
                  <a:schemeClr val="tx2"/>
                </a:solidFill>
              </a:rPr>
              <a:t>Movies with High Runtime</a:t>
            </a:r>
            <a:endParaRPr sz="2400" dirty="0">
              <a:solidFill>
                <a:schemeClr val="tx2"/>
              </a:solidFill>
            </a:endParaRPr>
          </a:p>
        </p:txBody>
      </p:sp>
      <p:sp>
        <p:nvSpPr>
          <p:cNvPr id="618" name="Google Shape;618;p52"/>
          <p:cNvSpPr txBox="1">
            <a:spLocks noGrp="1"/>
          </p:cNvSpPr>
          <p:nvPr>
            <p:ph type="subTitle" idx="1"/>
          </p:nvPr>
        </p:nvSpPr>
        <p:spPr>
          <a:xfrm>
            <a:off x="4830314" y="3667800"/>
            <a:ext cx="3594000" cy="7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chemeClr val="bg1"/>
                </a:solidFill>
              </a:rPr>
              <a:t>Many movies are around 90 to 120 minutes long, which means most movies are made to fit this time range.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3" name="Picture 2" descr="A graph of a distribution of movie runtime&#10;&#10;AI-generated content may be incorrect.">
            <a:extLst>
              <a:ext uri="{FF2B5EF4-FFF2-40B4-BE49-F238E27FC236}">
                <a16:creationId xmlns:a16="http://schemas.microsoft.com/office/drawing/2014/main" id="{E15A990F-DCA7-A2DA-C7BA-3E0EF01D3D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215" y="1291485"/>
            <a:ext cx="3466198" cy="22959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245D3D-358E-75B1-0B83-3B24CB112D5B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73" r="73"/>
          <a:stretch>
            <a:fillRect/>
          </a:stretch>
        </p:blipFill>
        <p:spPr>
          <a:xfrm>
            <a:off x="0" y="389820"/>
            <a:ext cx="9144000" cy="4562061"/>
          </a:xfr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BE1226C-8B47-A236-66B6-B97AA6328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468" y="0"/>
            <a:ext cx="8141728" cy="500932"/>
          </a:xfrm>
        </p:spPr>
        <p:txBody>
          <a:bodyPr/>
          <a:lstStyle/>
          <a:p>
            <a:r>
              <a:rPr lang="en-US" sz="2000" dirty="0"/>
              <a:t>Built an </a:t>
            </a:r>
            <a:r>
              <a:rPr lang="en-US" sz="2000" b="1" dirty="0"/>
              <a:t>interactive dashboard</a:t>
            </a:r>
            <a:r>
              <a:rPr lang="en-US" sz="2000" dirty="0"/>
              <a:t> to present all key insights visually.</a:t>
            </a:r>
          </a:p>
        </p:txBody>
      </p:sp>
    </p:spTree>
    <p:extLst>
      <p:ext uri="{BB962C8B-B14F-4D97-AF65-F5344CB8AC3E}">
        <p14:creationId xmlns:p14="http://schemas.microsoft.com/office/powerpoint/2010/main" val="42028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58"/>
          <p:cNvSpPr txBox="1">
            <a:spLocks noGrp="1"/>
          </p:cNvSpPr>
          <p:nvPr>
            <p:ph type="title"/>
          </p:nvPr>
        </p:nvSpPr>
        <p:spPr>
          <a:xfrm>
            <a:off x="950856" y="323803"/>
            <a:ext cx="2734500" cy="113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Conclusion</a:t>
            </a:r>
            <a:endParaRPr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691" name="Google Shape;691;p58"/>
          <p:cNvGrpSpPr/>
          <p:nvPr/>
        </p:nvGrpSpPr>
        <p:grpSpPr>
          <a:xfrm>
            <a:off x="5305425" y="714375"/>
            <a:ext cx="1943100" cy="3733800"/>
            <a:chOff x="5305425" y="714375"/>
            <a:chExt cx="1943100" cy="3733800"/>
          </a:xfrm>
        </p:grpSpPr>
        <p:sp>
          <p:nvSpPr>
            <p:cNvPr id="692" name="Google Shape;692;p58"/>
            <p:cNvSpPr/>
            <p:nvPr/>
          </p:nvSpPr>
          <p:spPr>
            <a:xfrm>
              <a:off x="5305425" y="714375"/>
              <a:ext cx="1943100" cy="3733800"/>
            </a:xfrm>
            <a:prstGeom prst="roundRect">
              <a:avLst>
                <a:gd name="adj" fmla="val 11054"/>
              </a:avLst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93" name="Google Shape;693;p58"/>
            <p:cNvCxnSpPr/>
            <p:nvPr/>
          </p:nvCxnSpPr>
          <p:spPr>
            <a:xfrm>
              <a:off x="5433975" y="4105275"/>
              <a:ext cx="1686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94" name="Google Shape;694;p58"/>
            <p:cNvGrpSpPr/>
            <p:nvPr/>
          </p:nvGrpSpPr>
          <p:grpSpPr>
            <a:xfrm>
              <a:off x="5976900" y="4188200"/>
              <a:ext cx="600150" cy="153900"/>
              <a:chOff x="5984729" y="3340475"/>
              <a:chExt cx="600150" cy="153900"/>
            </a:xfrm>
          </p:grpSpPr>
          <p:sp>
            <p:nvSpPr>
              <p:cNvPr id="695" name="Google Shape;695;p58"/>
              <p:cNvSpPr/>
              <p:nvPr/>
            </p:nvSpPr>
            <p:spPr>
              <a:xfrm>
                <a:off x="5984729" y="3340475"/>
                <a:ext cx="162000" cy="153900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58"/>
              <p:cNvSpPr/>
              <p:nvPr/>
            </p:nvSpPr>
            <p:spPr>
              <a:xfrm>
                <a:off x="6213329" y="3340475"/>
                <a:ext cx="162000" cy="153900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58"/>
              <p:cNvSpPr/>
              <p:nvPr/>
            </p:nvSpPr>
            <p:spPr>
              <a:xfrm>
                <a:off x="6422879" y="3340475"/>
                <a:ext cx="162000" cy="153900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8" name="Google Shape;698;p58"/>
            <p:cNvCxnSpPr/>
            <p:nvPr/>
          </p:nvCxnSpPr>
          <p:spPr>
            <a:xfrm>
              <a:off x="6105525" y="890653"/>
              <a:ext cx="342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699" name="Google Shape;69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4562" y="999550"/>
            <a:ext cx="1664700" cy="2959800"/>
          </a:xfrm>
          <a:prstGeom prst="roundRect">
            <a:avLst>
              <a:gd name="adj" fmla="val 9046"/>
            </a:avLst>
          </a:prstGeom>
          <a:noFill/>
          <a:ln>
            <a:noFill/>
          </a:ln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7ECC71F-4B1D-0AFF-4894-7EFBF755DB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5841187"/>
              </p:ext>
            </p:extLst>
          </p:nvPr>
        </p:nvGraphicFramePr>
        <p:xfrm>
          <a:off x="294199" y="1457503"/>
          <a:ext cx="3544378" cy="22581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5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03" name="Google Shape;603;p51"/>
          <p:cNvSpPr/>
          <p:nvPr/>
        </p:nvSpPr>
        <p:spPr>
          <a:xfrm rot="1978881" flipH="1">
            <a:off x="-2118837" y="4584330"/>
            <a:ext cx="6731944" cy="381949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51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picture is worth a thousand words</a:t>
            </a:r>
            <a:endParaRPr dirty="0"/>
          </a:p>
        </p:txBody>
      </p:sp>
      <p:grpSp>
        <p:nvGrpSpPr>
          <p:cNvPr id="605" name="Google Shape;605;p51"/>
          <p:cNvGrpSpPr/>
          <p:nvPr/>
        </p:nvGrpSpPr>
        <p:grpSpPr>
          <a:xfrm flipH="1">
            <a:off x="-9443867" y="4814449"/>
            <a:ext cx="13452615" cy="381925"/>
            <a:chOff x="-396857" y="4814449"/>
            <a:chExt cx="13452615" cy="381925"/>
          </a:xfrm>
        </p:grpSpPr>
        <p:sp>
          <p:nvSpPr>
            <p:cNvPr id="606" name="Google Shape;606;p51"/>
            <p:cNvSpPr/>
            <p:nvPr/>
          </p:nvSpPr>
          <p:spPr>
            <a:xfrm flipH="1">
              <a:off x="-396857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51"/>
            <p:cNvSpPr/>
            <p:nvPr/>
          </p:nvSpPr>
          <p:spPr>
            <a:xfrm flipH="1">
              <a:off x="6324233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8" name="Google Shape;608;p51"/>
          <p:cNvGrpSpPr/>
          <p:nvPr/>
        </p:nvGrpSpPr>
        <p:grpSpPr>
          <a:xfrm rot="-1885122" flipH="1">
            <a:off x="-5018146" y="-470572"/>
            <a:ext cx="13452920" cy="381934"/>
            <a:chOff x="-396857" y="4814449"/>
            <a:chExt cx="13452615" cy="381925"/>
          </a:xfrm>
        </p:grpSpPr>
        <p:sp>
          <p:nvSpPr>
            <p:cNvPr id="609" name="Google Shape;609;p51"/>
            <p:cNvSpPr/>
            <p:nvPr/>
          </p:nvSpPr>
          <p:spPr>
            <a:xfrm flipH="1">
              <a:off x="-396857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51"/>
            <p:cNvSpPr/>
            <p:nvPr/>
          </p:nvSpPr>
          <p:spPr>
            <a:xfrm flipH="1">
              <a:off x="6324233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1" name="Google Shape;611;p51"/>
          <p:cNvSpPr/>
          <p:nvPr/>
        </p:nvSpPr>
        <p:spPr>
          <a:xfrm rot="1978881" flipH="1">
            <a:off x="5102638" y="348530"/>
            <a:ext cx="6731944" cy="381949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9" name="Google Shape;659;p56"/>
          <p:cNvGrpSpPr/>
          <p:nvPr/>
        </p:nvGrpSpPr>
        <p:grpSpPr>
          <a:xfrm>
            <a:off x="4567575" y="1134050"/>
            <a:ext cx="3505200" cy="3171325"/>
            <a:chOff x="4567575" y="1134050"/>
            <a:chExt cx="3505200" cy="3171325"/>
          </a:xfrm>
        </p:grpSpPr>
        <p:sp>
          <p:nvSpPr>
            <p:cNvPr id="660" name="Google Shape;660;p56"/>
            <p:cNvSpPr/>
            <p:nvPr/>
          </p:nvSpPr>
          <p:spPr>
            <a:xfrm>
              <a:off x="4567575" y="1134050"/>
              <a:ext cx="3505200" cy="2159400"/>
            </a:xfrm>
            <a:prstGeom prst="roundRect">
              <a:avLst>
                <a:gd name="adj" fmla="val 7539"/>
              </a:avLst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56"/>
            <p:cNvSpPr/>
            <p:nvPr/>
          </p:nvSpPr>
          <p:spPr>
            <a:xfrm>
              <a:off x="5429625" y="3293525"/>
              <a:ext cx="1781100" cy="2478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62" name="Google Shape;662;p56"/>
            <p:cNvGrpSpPr/>
            <p:nvPr/>
          </p:nvGrpSpPr>
          <p:grpSpPr>
            <a:xfrm>
              <a:off x="6020100" y="3340475"/>
              <a:ext cx="600150" cy="153900"/>
              <a:chOff x="5984729" y="3340475"/>
              <a:chExt cx="600150" cy="153900"/>
            </a:xfrm>
          </p:grpSpPr>
          <p:sp>
            <p:nvSpPr>
              <p:cNvPr id="663" name="Google Shape;663;p56"/>
              <p:cNvSpPr/>
              <p:nvPr/>
            </p:nvSpPr>
            <p:spPr>
              <a:xfrm>
                <a:off x="5984729" y="3340475"/>
                <a:ext cx="162000" cy="153900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56"/>
              <p:cNvSpPr/>
              <p:nvPr/>
            </p:nvSpPr>
            <p:spPr>
              <a:xfrm>
                <a:off x="6213329" y="3340475"/>
                <a:ext cx="162000" cy="153900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56"/>
              <p:cNvSpPr/>
              <p:nvPr/>
            </p:nvSpPr>
            <p:spPr>
              <a:xfrm>
                <a:off x="6422879" y="3340475"/>
                <a:ext cx="162000" cy="153900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66" name="Google Shape;666;p56"/>
            <p:cNvSpPr/>
            <p:nvPr/>
          </p:nvSpPr>
          <p:spPr>
            <a:xfrm>
              <a:off x="5862975" y="3533775"/>
              <a:ext cx="914400" cy="6858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56"/>
            <p:cNvSpPr/>
            <p:nvPr/>
          </p:nvSpPr>
          <p:spPr>
            <a:xfrm>
              <a:off x="5695950" y="4219575"/>
              <a:ext cx="1247700" cy="85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8" name="Google Shape;668;p56"/>
          <p:cNvSpPr txBox="1">
            <a:spLocks noGrp="1"/>
          </p:cNvSpPr>
          <p:nvPr>
            <p:ph type="title"/>
          </p:nvPr>
        </p:nvSpPr>
        <p:spPr>
          <a:xfrm>
            <a:off x="1071225" y="1743767"/>
            <a:ext cx="2734500" cy="113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</p:txBody>
      </p:sp>
      <p:pic>
        <p:nvPicPr>
          <p:cNvPr id="3" name="Picture 2" descr="A black and white cover with text&#10;&#10;AI-generated content may be incorrect.">
            <a:extLst>
              <a:ext uri="{FF2B5EF4-FFF2-40B4-BE49-F238E27FC236}">
                <a16:creationId xmlns:a16="http://schemas.microsoft.com/office/drawing/2014/main" id="{3A21E43F-861A-29F2-54CA-F6BEE69A8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250" y="1271073"/>
            <a:ext cx="3335100" cy="18723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rive-in Cinema by Slidesgo">
  <a:themeElements>
    <a:clrScheme name="Simple Light">
      <a:dk1>
        <a:srgbClr val="EEEAEA"/>
      </a:dk1>
      <a:lt1>
        <a:srgbClr val="02E4E4"/>
      </a:lt1>
      <a:dk2>
        <a:srgbClr val="111111"/>
      </a:dk2>
      <a:lt2>
        <a:srgbClr val="A557E4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EEEAE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348</Words>
  <Application>Microsoft Macintosh PowerPoint</Application>
  <PresentationFormat>On-screen Show (16:9)</PresentationFormat>
  <Paragraphs>47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Bakbak One</vt:lpstr>
      <vt:lpstr>Zen Kaku Gothic New</vt:lpstr>
      <vt:lpstr>Albert Sans</vt:lpstr>
      <vt:lpstr>Arimo</vt:lpstr>
      <vt:lpstr>Didact Gothic</vt:lpstr>
      <vt:lpstr>Arial</vt:lpstr>
      <vt:lpstr>Drive-in Cinema by Slidesgo</vt:lpstr>
      <vt:lpstr>Exploring Movie &amp; TV Metadata with Excel, SQL, Python &amp; Power BI</vt:lpstr>
      <vt:lpstr>Project Objective</vt:lpstr>
      <vt:lpstr>What Was Our Goal?</vt:lpstr>
      <vt:lpstr>Visual Insights with Excel</vt:lpstr>
      <vt:lpstr>Structured Insights with SQL </vt:lpstr>
      <vt:lpstr>Power Players of the Screen</vt:lpstr>
      <vt:lpstr>Digging Deeper with Python </vt:lpstr>
      <vt:lpstr>Patterns in Ratings, Directors &amp; Star Power</vt:lpstr>
      <vt:lpstr>Movies with High Runtime</vt:lpstr>
      <vt:lpstr>Built an interactive dashboard to present all key insights visually.</vt:lpstr>
      <vt:lpstr>Conclusion</vt:lpstr>
      <vt:lpstr>A picture is worth a thousand words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shaikh mahamud</cp:lastModifiedBy>
  <cp:revision>12</cp:revision>
  <dcterms:modified xsi:type="dcterms:W3CDTF">2025-06-18T15:58:09Z</dcterms:modified>
</cp:coreProperties>
</file>